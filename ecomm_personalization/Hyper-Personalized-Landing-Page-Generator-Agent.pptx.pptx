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8288000" cy="10287000"/>
  <p:notesSz cx="6858000" cy="9144000"/>
  <p:embeddedFontLst>
    <p:embeddedFont>
      <p:font typeface="Lato" panose="020F0502020204030203" pitchFamily="34" charset="0"/>
      <p:regular r:id="rId10"/>
    </p:embeddedFont>
    <p:embeddedFont>
      <p:font typeface="Lato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8927" autoAdjust="0"/>
  </p:normalViewPr>
  <p:slideViewPr>
    <p:cSldViewPr>
      <p:cViewPr varScale="1">
        <p:scale>
          <a:sx n="57" d="100"/>
          <a:sy n="57" d="100"/>
        </p:scale>
        <p:origin x="56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05.07.2025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E380-529C-1599-199A-8F365BAA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FDF144-0C5C-C110-594A-B725D392AE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3CF18-72FF-9653-EAAB-DCFC88BA40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74E3D04-EDFB-D2E2-DD7A-FB0377DB6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37DF63-F2E1-D653-2578-F9D6F4BEF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DDC7-68BB-27F6-1552-B973B52162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E55FA-FE14-3EE1-EFD3-A5DD9D2B2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7052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643" b="-1364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7" y="3779936"/>
            <a:ext cx="9445526" cy="181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Hyper-Personalized Landing Page Generator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01886" y="601415"/>
            <a:ext cx="9990535" cy="67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00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User Segmentation &amp; Data Processing Logic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1886" y="1752253"/>
            <a:ext cx="3232249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User Segmentation Strategy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529" y="2660277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Behavioural: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Analysing session duration, page views, and specific product interactions.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529" y="3402275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Demographic: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Categorising users by age group, gender, and geographical location.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529" y="4153587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Contextual: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Identifying patterns based on device type, time of day, and referrer source.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1886" y="5053573"/>
            <a:ext cx="2577704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 Collection Points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529" y="5799698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User Profiles: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Aggregated total sessions, conversion rates, and unique product views.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0529" y="6537759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Product Interactions: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Detailed logs of views, items added to cart, and purchases.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529" y="7298811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Real-time Context: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Dynamic data on device, location, and current session behaviour.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405045" y="1815554"/>
            <a:ext cx="8348677" cy="5712244"/>
            <a:chOff x="0" y="0"/>
            <a:chExt cx="10787460" cy="7380883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0787507" cy="7380859"/>
            </a:xfrm>
            <a:custGeom>
              <a:avLst/>
              <a:gdLst/>
              <a:ahLst/>
              <a:cxnLst/>
              <a:rect l="l" t="t" r="r" b="b"/>
              <a:pathLst>
                <a:path w="10787507" h="7380859">
                  <a:moveTo>
                    <a:pt x="0" y="0"/>
                  </a:moveTo>
                  <a:lnTo>
                    <a:pt x="10787507" y="0"/>
                  </a:lnTo>
                  <a:lnTo>
                    <a:pt x="10787507" y="7380859"/>
                  </a:lnTo>
                  <a:lnTo>
                    <a:pt x="0" y="7380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" b="-9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01886" y="8169374"/>
            <a:ext cx="2577704" cy="39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Metrics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1886" y="8620225"/>
            <a:ext cx="8090595" cy="376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Conversion Rate: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Percentage of visitors completing a desired action.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97405" y="8290024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Engagement Depth: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Measure of user interaction intensity within the platform.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97405" y="9172575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Category Preferences:</a:t>
            </a:r>
            <a:r>
              <a:rPr lang="en-US" sz="1962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Dominant product categories a user interacts with.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1886" y="9172575"/>
            <a:ext cx="8090595" cy="7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218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Cold Start Identification: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Flagging new users with ≤3 interactions for tailored onboarding.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991"/>
            <a:ext cx="18288000" cy="10302576"/>
            <a:chOff x="0" y="0"/>
            <a:chExt cx="24652883" cy="138882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52883" cy="13888244"/>
            </a:xfrm>
            <a:custGeom>
              <a:avLst/>
              <a:gdLst/>
              <a:ahLst/>
              <a:cxnLst/>
              <a:rect l="l" t="t" r="r" b="b"/>
              <a:pathLst>
                <a:path w="24652883" h="13888244">
                  <a:moveTo>
                    <a:pt x="0" y="0"/>
                  </a:moveTo>
                  <a:lnTo>
                    <a:pt x="24652883" y="0"/>
                  </a:lnTo>
                  <a:lnTo>
                    <a:pt x="24652883" y="13888244"/>
                  </a:lnTo>
                  <a:lnTo>
                    <a:pt x="0" y="13888244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74783" y="1770124"/>
            <a:ext cx="8115300" cy="6760347"/>
          </a:xfrm>
          <a:custGeom>
            <a:avLst/>
            <a:gdLst/>
            <a:ahLst/>
            <a:cxnLst/>
            <a:rect l="l" t="t" r="r" b="b"/>
            <a:pathLst>
              <a:path w="8115300" h="6760347">
                <a:moveTo>
                  <a:pt x="0" y="0"/>
                </a:moveTo>
                <a:lnTo>
                  <a:pt x="8115300" y="0"/>
                </a:lnTo>
                <a:lnTo>
                  <a:pt x="8115300" y="6760347"/>
                </a:lnTo>
                <a:lnTo>
                  <a:pt x="0" y="6760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68" r="-516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23602" y="549474"/>
            <a:ext cx="7574905" cy="53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Multi-Strategy Personalisation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5188" y="1329011"/>
            <a:ext cx="3394397" cy="3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242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A/B Testing Framework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5188" y="2029848"/>
            <a:ext cx="8218735" cy="37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2" lvl="1" indent="-147041" algn="l">
              <a:lnSpc>
                <a:spcPts val="3217"/>
              </a:lnSpc>
              <a:buFont typeface="Arial"/>
              <a:buChar char="•"/>
            </a:pPr>
            <a:r>
              <a:rPr lang="en-US" sz="19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Group A:</a:t>
            </a:r>
            <a:r>
              <a:rPr lang="en-US" sz="19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Utilises collaborative filtering, focusing on user similarity.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55188" y="2609194"/>
            <a:ext cx="8218735" cy="77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2" lvl="1" indent="-147041" algn="l">
              <a:lnSpc>
                <a:spcPts val="3217"/>
              </a:lnSpc>
              <a:buFont typeface="Arial"/>
              <a:buChar char="•"/>
            </a:pPr>
            <a:r>
              <a:rPr lang="en-US" sz="19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Group B:</a:t>
            </a:r>
            <a:r>
              <a:rPr lang="en-US" sz="19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Employs matrix factorization with the SVD algorithm for optimised recommendations.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45663" y="3586488"/>
            <a:ext cx="8218735" cy="77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2" lvl="1" indent="-147041" algn="l">
              <a:lnSpc>
                <a:spcPts val="3217"/>
              </a:lnSpc>
              <a:buFont typeface="Arial"/>
              <a:buChar char="•"/>
            </a:pPr>
            <a:r>
              <a:rPr lang="en-US" sz="19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Random Assignment:</a:t>
            </a:r>
            <a:r>
              <a:rPr lang="en-US" sz="19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Users are randomly assigned to groups, with continuous performance tracking.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9766" y="4646621"/>
            <a:ext cx="4115005" cy="3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242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Recommendation Strategies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85404" y="5328286"/>
            <a:ext cx="8218735" cy="77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2" lvl="1" indent="-147041" algn="l">
              <a:lnSpc>
                <a:spcPts val="3217"/>
              </a:lnSpc>
              <a:buFont typeface="Arial"/>
              <a:buChar char="•"/>
            </a:pPr>
            <a:r>
              <a:rPr lang="en-US" sz="19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Personalised:</a:t>
            </a:r>
            <a:r>
              <a:rPr lang="en-US" sz="19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User-based collaborative filtering, leveraging historical interaction data.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85404" y="6209050"/>
            <a:ext cx="8218735" cy="77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2" lvl="1" indent="-147041" algn="l">
              <a:lnSpc>
                <a:spcPts val="3217"/>
              </a:lnSpc>
              <a:buFont typeface="Arial"/>
              <a:buChar char="•"/>
            </a:pPr>
            <a:r>
              <a:rPr lang="en-US" sz="19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Cold Start:</a:t>
            </a:r>
            <a:r>
              <a:rPr lang="en-US" sz="19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Combines popular products with contextual filtering for new users.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85404" y="7089814"/>
            <a:ext cx="8218735" cy="77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082" lvl="1" indent="-147041" algn="l">
              <a:lnSpc>
                <a:spcPts val="3217"/>
              </a:lnSpc>
              <a:buFont typeface="Arial"/>
              <a:buChar char="•"/>
            </a:pPr>
            <a:r>
              <a:rPr lang="en-US" sz="19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Advanced:</a:t>
            </a:r>
            <a:r>
              <a:rPr lang="en-US" sz="19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Matrix factorization (SVD) for enhanced prediction accuracy and diverse recommendations.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3602" y="10621715"/>
            <a:ext cx="16840795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2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system dynamically adjusts content based on context-aware filtering (device, time, location) and generates dynamic content according to the current user state, ensuring immediate relevance.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9766" y="7911912"/>
            <a:ext cx="3393259" cy="94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1"/>
              </a:lnSpc>
              <a:spcBef>
                <a:spcPct val="0"/>
              </a:spcBef>
            </a:pPr>
            <a:r>
              <a:rPr lang="en-US" sz="243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Real-time Adaptation</a:t>
            </a:r>
          </a:p>
          <a:p>
            <a:pPr algn="ctr">
              <a:lnSpc>
                <a:spcPts val="1779"/>
              </a:lnSpc>
              <a:spcBef>
                <a:spcPct val="0"/>
              </a:spcBef>
            </a:pPr>
            <a:r>
              <a:rPr lang="en-US" sz="108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ctr">
              <a:lnSpc>
                <a:spcPts val="1779"/>
              </a:lnSpc>
              <a:spcBef>
                <a:spcPct val="0"/>
              </a:spcBef>
            </a:pPr>
            <a:endParaRPr lang="en-US" sz="1085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85404" y="8636448"/>
            <a:ext cx="8070227" cy="1167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0545" lvl="1" indent="-210273" algn="l">
              <a:lnSpc>
                <a:spcPts val="3194"/>
              </a:lnSpc>
              <a:buFont typeface="Arial"/>
              <a:buChar char="•"/>
            </a:pPr>
            <a:r>
              <a:rPr lang="en-US" sz="1947" dirty="0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The system dynamically adjusts content based on context-aware filtering (device, time, location) and generates dynamic content according to the current user state, ensuring immediate relevance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F46D07-0C55-91E8-CC1A-ACF5E26D9B08}"/>
              </a:ext>
            </a:extLst>
          </p:cNvPr>
          <p:cNvSpPr txBox="1"/>
          <p:nvPr/>
        </p:nvSpPr>
        <p:spPr>
          <a:xfrm>
            <a:off x="838200" y="8861173"/>
            <a:ext cx="7460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“Conversion rates shown are illustrative; see evaluation results for actual metrics.”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3172122"/>
            <a:chOff x="0" y="0"/>
            <a:chExt cx="24384000" cy="422949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229481"/>
            </a:xfrm>
            <a:custGeom>
              <a:avLst/>
              <a:gdLst/>
              <a:ahLst/>
              <a:cxnLst/>
              <a:rect l="l" t="t" r="r" b="b"/>
              <a:pathLst>
                <a:path w="24384000" h="4229481">
                  <a:moveTo>
                    <a:pt x="0" y="0"/>
                  </a:moveTo>
                  <a:lnTo>
                    <a:pt x="24384000" y="0"/>
                  </a:lnTo>
                  <a:lnTo>
                    <a:pt x="24384000" y="4229481"/>
                  </a:lnTo>
                  <a:lnTo>
                    <a:pt x="0" y="4229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r="-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86879" y="3922960"/>
            <a:ext cx="8608814" cy="82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Intelligent Cold Start Handling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86879" y="5125045"/>
            <a:ext cx="5438031" cy="1015008"/>
            <a:chOff x="0" y="0"/>
            <a:chExt cx="7250708" cy="135334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7250684" cy="1353312"/>
            </a:xfrm>
            <a:custGeom>
              <a:avLst/>
              <a:gdLst/>
              <a:ahLst/>
              <a:cxnLst/>
              <a:rect l="l" t="t" r="r" b="b"/>
              <a:pathLst>
                <a:path w="7250684" h="1353312">
                  <a:moveTo>
                    <a:pt x="0" y="0"/>
                  </a:moveTo>
                  <a:lnTo>
                    <a:pt x="7250684" y="0"/>
                  </a:lnTo>
                  <a:lnTo>
                    <a:pt x="7250684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8" b="-20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40631" y="6384280"/>
            <a:ext cx="3195191" cy="40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Problem Identification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0631" y="6866185"/>
            <a:ext cx="4930528" cy="129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Addressing the challenge of new users with limited interaction history, which hinders accurate personalisation.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6424910" y="5125045"/>
            <a:ext cx="5438031" cy="1015008"/>
            <a:chOff x="0" y="0"/>
            <a:chExt cx="7250708" cy="135334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7250684" cy="1353312"/>
            </a:xfrm>
            <a:custGeom>
              <a:avLst/>
              <a:gdLst/>
              <a:ahLst/>
              <a:cxnLst/>
              <a:rect l="l" t="t" r="r" b="b"/>
              <a:pathLst>
                <a:path w="7250684" h="1353312">
                  <a:moveTo>
                    <a:pt x="0" y="0"/>
                  </a:moveTo>
                  <a:lnTo>
                    <a:pt x="7250684" y="0"/>
                  </a:lnTo>
                  <a:lnTo>
                    <a:pt x="7250684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98" b="-20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678662" y="6384280"/>
            <a:ext cx="3190577" cy="40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Multi-layered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78662" y="6866185"/>
            <a:ext cx="4930528" cy="1294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Implementing a comprehensive strategy to provide relevant content even without extensive user data.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1862941" y="5125045"/>
            <a:ext cx="5438031" cy="1015008"/>
            <a:chOff x="0" y="0"/>
            <a:chExt cx="7250708" cy="1353343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250684" cy="1353312"/>
            </a:xfrm>
            <a:custGeom>
              <a:avLst/>
              <a:gdLst/>
              <a:ahLst/>
              <a:cxnLst/>
              <a:rect l="l" t="t" r="r" b="b"/>
              <a:pathLst>
                <a:path w="7250684" h="1353312">
                  <a:moveTo>
                    <a:pt x="0" y="0"/>
                  </a:moveTo>
                  <a:lnTo>
                    <a:pt x="7250684" y="0"/>
                  </a:lnTo>
                  <a:lnTo>
                    <a:pt x="7250684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98" b="-200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116692" y="6384280"/>
            <a:ext cx="3172122" cy="405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Progressive Learning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16692" y="6866185"/>
            <a:ext cx="4930528" cy="88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Gradually refining personalisation as user interaction data accumulates over time.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6879" y="8623399"/>
            <a:ext cx="16314241" cy="88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system automatically detects cold start users (those with ≤3 interactions) and seamlessly transitions them to more personalised recommendations as more data becomes available. Performance is rigorously monitored for both cold start and established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48320"/>
            <a:ext cx="9121080" cy="63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Scalable Data Architecture &amp; ML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1722" y="1815703"/>
            <a:ext cx="2480816" cy="37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3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 Flow: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1722" y="2302156"/>
            <a:ext cx="8749010" cy="114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3703" lvl="1" indent="-211851" algn="l">
              <a:lnSpc>
                <a:spcPts val="3139"/>
              </a:lnSpc>
              <a:buFont typeface="Arial"/>
              <a:buChar char="•"/>
            </a:pP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interactions initiate a sequence from the Frontend, through the Analytics API, to Backend Processing. This flow ensures real-time event tracking and continuous user profile updates.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624" y="3621686"/>
            <a:ext cx="3175248" cy="37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3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ML Pipeline Stages: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1722" y="4130794"/>
            <a:ext cx="2480816" cy="31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897" lvl="1" indent="-219948" algn="l">
              <a:lnSpc>
                <a:spcPts val="2563"/>
              </a:lnSpc>
              <a:buFont typeface="Arial"/>
              <a:buChar char="•"/>
            </a:pPr>
            <a:r>
              <a:rPr lang="en-US" sz="20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 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624" y="4656084"/>
            <a:ext cx="8352234" cy="3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Involves feature extraction and normalisation from raw user data.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1722" y="5308864"/>
            <a:ext cx="2480816" cy="31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897" lvl="1" indent="-219948" algn="l">
              <a:lnSpc>
                <a:spcPts val="2563"/>
              </a:lnSpc>
              <a:buFont typeface="Arial"/>
              <a:buChar char="•"/>
            </a:pPr>
            <a:r>
              <a:rPr lang="en-US" sz="20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Model Training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0624" y="5846289"/>
            <a:ext cx="8054579" cy="3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Leveraging collaborative filtering and matrix factorization algorithms.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1722" y="6499069"/>
            <a:ext cx="4176192" cy="31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897" lvl="1" indent="-219948" algn="l">
              <a:lnSpc>
                <a:spcPts val="2563"/>
              </a:lnSpc>
              <a:buFont typeface="Arial"/>
              <a:buChar char="•"/>
            </a:pPr>
            <a:r>
              <a:rPr lang="en-US" sz="20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Recommendation Generation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0624" y="7056395"/>
            <a:ext cx="7756923" cy="3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Dynamic strategy selection based on the current user state.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713474"/>
            <a:ext cx="3713532" cy="31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897" lvl="1" indent="-219948" algn="l">
              <a:lnSpc>
                <a:spcPts val="2563"/>
              </a:lnSpc>
              <a:buFont typeface="Arial"/>
              <a:buChar char="•"/>
            </a:pPr>
            <a:r>
              <a:rPr lang="en-US" sz="203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Performance Monitoring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0624" y="8270538"/>
            <a:ext cx="7459116" cy="3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Continuous A/B testing and conversion tracking for optimisation.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234761" y="1721564"/>
            <a:ext cx="7070377" cy="4837510"/>
            <a:chOff x="0" y="0"/>
            <a:chExt cx="9427170" cy="6450013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9427210" cy="6450076"/>
            </a:xfrm>
            <a:custGeom>
              <a:avLst/>
              <a:gdLst/>
              <a:ahLst/>
              <a:cxnLst/>
              <a:rect l="l" t="t" r="r" b="b"/>
              <a:pathLst>
                <a:path w="9427210" h="6450076">
                  <a:moveTo>
                    <a:pt x="0" y="0"/>
                  </a:moveTo>
                  <a:lnTo>
                    <a:pt x="9427210" y="0"/>
                  </a:lnTo>
                  <a:lnTo>
                    <a:pt x="9427210" y="6450076"/>
                  </a:lnTo>
                  <a:lnTo>
                    <a:pt x="0" y="6450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2" b="-3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234761" y="7050138"/>
            <a:ext cx="2480816" cy="37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3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Technology Stack: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34761" y="7501384"/>
            <a:ext cx="7070377" cy="3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139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Backend: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FastAPI, Python, scikit-surprise (for SVD algorithm).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34761" y="8125122"/>
            <a:ext cx="7070377" cy="36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139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Frontend: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Next.js, React, Framer Motion for dynamic UI.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34761" y="8748861"/>
            <a:ext cx="7070377" cy="75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9" lvl="1" indent="-147984" algn="l">
              <a:lnSpc>
                <a:spcPts val="3139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Database: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In-memory storage for demo purposes, with SQLAlchemy planned for production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35347" y="470595"/>
            <a:ext cx="6706491" cy="48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3026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User Interface &amp; Performance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5348" y="1098164"/>
            <a:ext cx="2315729" cy="32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06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UI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5347" y="1537395"/>
            <a:ext cx="8342560" cy="76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7" lvl="1" indent="-147983" algn="l">
              <a:lnSpc>
                <a:spcPts val="3116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Responsive Design: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Adapts seamlessly across various devices, enhanced by modern animations.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347" y="2221683"/>
            <a:ext cx="8342560" cy="76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7" lvl="1" indent="-147983" algn="l">
              <a:lnSpc>
                <a:spcPts val="3116"/>
              </a:lnSpc>
              <a:buFont typeface="Arial"/>
              <a:buChar char="•"/>
            </a:pPr>
            <a:r>
              <a:rPr lang="en-US" sz="19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Product Hover Popups:</a:t>
            </a:r>
            <a:r>
              <a:rPr lang="en-US" sz="19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Displays concise product details, including pricing in Rupees, on hover.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5348" y="2962091"/>
            <a:ext cx="8342560" cy="3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7" lvl="1" indent="-147983">
              <a:lnSpc>
                <a:spcPts val="3116"/>
              </a:lnSpc>
              <a:buFont typeface="Arial"/>
              <a:buChar char="•"/>
            </a:pPr>
            <a:r>
              <a:rPr lang="en-US" sz="19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Real-time Profile Editing:</a:t>
            </a:r>
            <a:r>
              <a:rPr lang="en-US" sz="1962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200" dirty="0"/>
              <a:t>Instant profile updates with API persistence</a:t>
            </a:r>
            <a:r>
              <a:rPr lang="en-US" dirty="0"/>
              <a:t>.</a:t>
            </a:r>
            <a:endParaRPr lang="en-US" sz="1962" dirty="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35347" y="3563388"/>
            <a:ext cx="8342560" cy="76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5967" lvl="1" indent="-147983" algn="l">
              <a:lnSpc>
                <a:spcPts val="3116"/>
              </a:lnSpc>
              <a:buFont typeface="Arial"/>
              <a:buChar char="•"/>
            </a:pPr>
            <a:r>
              <a:rPr lang="en-US" sz="19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Toast Notifications:</a:t>
            </a:r>
            <a:r>
              <a:rPr lang="en-US" sz="1962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Provides immediate, non-intrusive feedback to user actions.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018761" y="499170"/>
            <a:ext cx="7755560" cy="7755560"/>
            <a:chOff x="0" y="0"/>
            <a:chExt cx="11123413" cy="11123413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123422" cy="11123422"/>
            </a:xfrm>
            <a:custGeom>
              <a:avLst/>
              <a:gdLst/>
              <a:ahLst/>
              <a:cxnLst/>
              <a:rect l="l" t="t" r="r" b="b"/>
              <a:pathLst>
                <a:path w="11123422" h="11123422">
                  <a:moveTo>
                    <a:pt x="0" y="0"/>
                  </a:moveTo>
                  <a:lnTo>
                    <a:pt x="11123422" y="0"/>
                  </a:lnTo>
                  <a:lnTo>
                    <a:pt x="11123422" y="11123422"/>
                  </a:lnTo>
                  <a:lnTo>
                    <a:pt x="0" y="11123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35347" y="10377488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ROC AUC: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Achieved 0.94, indicating excellent model performance in distinguishing between positive and negative classes.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347" y="10642997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Importance: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Key influencing factors identified as income, gender, category, age, and region.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5347" y="10908506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A/B Testing: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Comprehensive comparison of different personalisation strategies, tracked via conversion rates.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19617" y="10377488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Seamless Profile Management: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Intuitive interface for easy user data updates.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19617" y="10642997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Personalised Recommendations: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Highly relevant product suggestions enhancing user engagement.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19617" y="10908506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Smooth Animations &amp; Transitions: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Enhances the overall visual appeal and navigability.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19617" y="11174016"/>
            <a:ext cx="8342560" cy="25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238" lvl="1" indent="-80119" algn="l">
              <a:lnSpc>
                <a:spcPts val="1687"/>
              </a:lnSpc>
              <a:buFont typeface="Arial"/>
              <a:buChar char="•"/>
            </a:pPr>
            <a:r>
              <a:rPr lang="en-US" sz="10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Mobile-Responsive Design:</a:t>
            </a:r>
            <a:r>
              <a:rPr lang="en-US" sz="1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Consistent and optimised experience across all screen sizes.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528" y="4503202"/>
            <a:ext cx="9532233" cy="363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7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User Experience</a:t>
            </a:r>
          </a:p>
          <a:p>
            <a:pPr marL="426143" lvl="1" indent="-213072" algn="l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Seamless Profile Management: Intuitive interface for easy user data updates.</a:t>
            </a:r>
          </a:p>
          <a:p>
            <a:pPr marL="426143" lvl="1" indent="-213072" algn="l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Personalised Recommendations: Highly relevant product suggestions enhancing user engagement.</a:t>
            </a:r>
          </a:p>
          <a:p>
            <a:pPr marL="426143" lvl="1" indent="-213072" algn="l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Smooth Animations &amp; Transitions: Enhances the overall visual appeal and navigability.</a:t>
            </a:r>
          </a:p>
          <a:p>
            <a:pPr marL="426143" lvl="1" indent="-213072" algn="l">
              <a:lnSpc>
                <a:spcPts val="3237"/>
              </a:lnSpc>
              <a:spcBef>
                <a:spcPct val="0"/>
              </a:spcBef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Mobile-Responsive Design: Consistent and optimised experience across all screen sizes.</a:t>
            </a:r>
          </a:p>
          <a:p>
            <a:pPr algn="l">
              <a:lnSpc>
                <a:spcPts val="3237"/>
              </a:lnSpc>
              <a:spcBef>
                <a:spcPct val="0"/>
              </a:spcBef>
            </a:pPr>
            <a:endParaRPr lang="en-US" sz="1973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5348" y="8049548"/>
            <a:ext cx="13707309" cy="16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2"/>
              </a:lnSpc>
              <a:spcBef>
                <a:spcPct val="0"/>
              </a:spcBef>
            </a:pPr>
            <a:r>
              <a:rPr lang="en-US" sz="2062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Performance Metrics</a:t>
            </a:r>
          </a:p>
          <a:p>
            <a:pPr marL="423703" lvl="1" indent="-211851">
              <a:lnSpc>
                <a:spcPts val="3218"/>
              </a:lnSpc>
              <a:buFont typeface="Arial"/>
              <a:buChar char="•"/>
            </a:pPr>
            <a:r>
              <a:rPr lang="en-US" sz="2200" dirty="0"/>
              <a:t>Precision@5: 0.78, Recall@5: 0.65, Diversity Score: 0.85, Response Time: &lt;200ms</a:t>
            </a:r>
            <a:r>
              <a:rPr lang="en-US" sz="2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423703" lvl="1" indent="-211851" algn="l">
              <a:lnSpc>
                <a:spcPts val="3218"/>
              </a:lnSpc>
              <a:buFont typeface="Arial"/>
              <a:buChar char="•"/>
            </a:pPr>
            <a:r>
              <a:rPr lang="en-US" sz="196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Feature Importance: Key influencing factors identified as income, gender, category, age, and region.</a:t>
            </a:r>
          </a:p>
          <a:p>
            <a:pPr marL="423703" lvl="1" indent="-211851" algn="l">
              <a:lnSpc>
                <a:spcPts val="3218"/>
              </a:lnSpc>
              <a:buFont typeface="Arial"/>
              <a:buChar char="•"/>
            </a:pPr>
            <a:r>
              <a:rPr lang="en-US" sz="196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A/B Testing: Comprehensive comparison of different </a:t>
            </a:r>
            <a:r>
              <a:rPr lang="en-US" sz="1962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personalisation</a:t>
            </a:r>
            <a:r>
              <a:rPr lang="en-US" sz="1962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strategies, tracked via conversion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E2677-E6A3-2D20-022A-5614BD7F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8D6B74-BC21-3125-9438-9A11F04D04D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5F52A7-BED9-A0B6-2437-F379B104980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53E5504-16DE-19D1-8CDA-A5A2CB97A04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54A019-F25B-0DB5-014B-73C02CA85E7A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6EBF49A-00A9-4D6B-EB18-72EF3D88EB29}"/>
              </a:ext>
            </a:extLst>
          </p:cNvPr>
          <p:cNvSpPr txBox="1"/>
          <p:nvPr/>
        </p:nvSpPr>
        <p:spPr>
          <a:xfrm>
            <a:off x="378359" y="149985"/>
            <a:ext cx="5467053" cy="1345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29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Output Screenshots:</a:t>
            </a:r>
          </a:p>
          <a:p>
            <a:pPr algn="l">
              <a:lnSpc>
                <a:spcPts val="5350"/>
              </a:lnSpc>
            </a:pPr>
            <a:endParaRPr lang="en-US" sz="4290" b="1">
              <a:solidFill>
                <a:srgbClr val="28282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2A58F7-E8AA-5355-5989-FDAFD58DB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75" y="802386"/>
            <a:ext cx="6624504" cy="46869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267930-D5EA-92CC-9B7B-57F5FF8FB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971" y="247651"/>
            <a:ext cx="11002336" cy="51815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218D67-D221-B347-21D3-D4076EE98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69" y="5676899"/>
            <a:ext cx="8721408" cy="4471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9A85A3-B256-5CC8-FDE7-65BBB19B6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486" y="5638046"/>
            <a:ext cx="8831845" cy="450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7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852</Words>
  <Application>Microsoft Office PowerPoint</Application>
  <PresentationFormat>Custom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Lato</vt:lpstr>
      <vt:lpstr>Calibri</vt:lpstr>
      <vt:lpstr>Lato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Hyper-Personalized-Landing-Page-Generator-Agent.pptx</dc:title>
  <cp:lastModifiedBy>Rohit Kamatam</cp:lastModifiedBy>
  <cp:revision>4</cp:revision>
  <dcterms:created xsi:type="dcterms:W3CDTF">2006-08-16T00:00:00Z</dcterms:created>
  <dcterms:modified xsi:type="dcterms:W3CDTF">2025-07-05T04:43:12Z</dcterms:modified>
  <dc:identifier>DAGrhZ8WVgU</dc:identifier>
</cp:coreProperties>
</file>